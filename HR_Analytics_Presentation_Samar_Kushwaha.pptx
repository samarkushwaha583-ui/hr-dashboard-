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Rectangle 1"/>
          <p:cNvSpPr/>
          <p:nvPr/>
        </p:nvSpPr>
        <p:spPr>
          <a:xfrm>
            <a:off x="8778240" y="0"/>
            <a:ext cx="3410712" cy="6858000"/>
          </a:xfrm>
          <a:prstGeom prst="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0" y="1097280"/>
            <a:ext cx="347472" cy="2286000"/>
          </a:xfrm>
          <a:prstGeom prst="round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738360" y="1289304"/>
            <a:ext cx="347472" cy="1645920"/>
          </a:xfrm>
          <a:prstGeom prst="round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332720" y="1440180"/>
            <a:ext cx="347472" cy="1143000"/>
          </a:xfrm>
          <a:prstGeom prst="round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27080" y="1563624"/>
            <a:ext cx="347472" cy="731520"/>
          </a:xfrm>
          <a:prstGeom prst="round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777240"/>
            <a:ext cx="7223760" cy="320040"/>
          </a:xfrm>
          <a:prstGeom prst="rect">
            <a:avLst/>
          </a:prstGeom>
          <a:noFill/>
        </p:spPr>
        <p:txBody>
          <a:bodyPr wrap="square" lIns="45720" rIns="45720" anchor="t">
            <a:spAutoFit/>
          </a:bodyPr>
          <a:lstStyle/>
          <a:p>
            <a:pPr>
              <a:spcAft>
                <a:spcPts val="700"/>
              </a:spcAft>
              <a:defRPr sz="1200" b="1">
                <a:solidFill>
                  <a:srgbClr val="3EE0C9"/>
                </a:solidFill>
                <a:latin typeface="Aptos"/>
              </a:defRPr>
            </a:pPr>
            <a:r>
              <a:t>PEOPLE • PERFORMANCE • INSIGHT</a:t>
            </a:r>
          </a:p>
        </p:txBody>
      </p:sp>
      <p:sp>
        <p:nvSpPr>
          <p:cNvPr id="8" name="TextBox 7"/>
          <p:cNvSpPr txBox="1"/>
          <p:nvPr/>
        </p:nvSpPr>
        <p:spPr>
          <a:xfrm>
            <a:off x="731520" y="1417320"/>
            <a:ext cx="7498079" cy="1417320"/>
          </a:xfrm>
          <a:prstGeom prst="rect">
            <a:avLst/>
          </a:prstGeom>
          <a:noFill/>
        </p:spPr>
        <p:txBody>
          <a:bodyPr wrap="square" lIns="45720" rIns="45720" anchor="t">
            <a:spAutoFit/>
          </a:bodyPr>
          <a:lstStyle/>
          <a:p>
            <a:pPr>
              <a:spcAft>
                <a:spcPts val="700"/>
              </a:spcAft>
              <a:defRPr sz="3600" b="1">
                <a:solidFill>
                  <a:srgbClr val="F5F8FF"/>
                </a:solidFill>
                <a:latin typeface="Aptos"/>
              </a:defRPr>
            </a:pPr>
            <a:r>
              <a:t>HR ANALYTICS</a:t>
            </a:r>
          </a:p>
          <a:p>
            <a:pPr>
              <a:spcAft>
                <a:spcPts val="700"/>
              </a:spcAft>
              <a:defRPr sz="3600" b="1">
                <a:solidFill>
                  <a:srgbClr val="F5F8FF"/>
                </a:solidFill>
                <a:latin typeface="Aptos"/>
              </a:defRPr>
            </a:pPr>
            <a:r>
              <a:t>DASHBOARD</a:t>
            </a:r>
          </a:p>
        </p:txBody>
      </p:sp>
      <p:sp>
        <p:nvSpPr>
          <p:cNvPr id="9" name="TextBox 8"/>
          <p:cNvSpPr txBox="1"/>
          <p:nvPr/>
        </p:nvSpPr>
        <p:spPr>
          <a:xfrm>
            <a:off x="758952" y="3090672"/>
            <a:ext cx="7132320" cy="594360"/>
          </a:xfrm>
          <a:prstGeom prst="rect">
            <a:avLst/>
          </a:prstGeom>
          <a:noFill/>
        </p:spPr>
        <p:txBody>
          <a:bodyPr wrap="square" lIns="45720" rIns="45720" anchor="t">
            <a:spAutoFit/>
          </a:bodyPr>
          <a:lstStyle/>
          <a:p>
            <a:pPr>
              <a:spcAft>
                <a:spcPts val="700"/>
              </a:spcAft>
              <a:defRPr sz="2000" b="0">
                <a:solidFill>
                  <a:srgbClr val="B2BFD4"/>
                </a:solidFill>
                <a:latin typeface="Aptos"/>
              </a:defRPr>
            </a:pPr>
            <a:r>
              <a:t>Turning employee data into better decisions</a:t>
            </a:r>
          </a:p>
        </p:txBody>
      </p:sp>
      <p:sp>
        <p:nvSpPr>
          <p:cNvPr id="10" name="Rectangle 9"/>
          <p:cNvSpPr/>
          <p:nvPr/>
        </p:nvSpPr>
        <p:spPr>
          <a:xfrm>
            <a:off x="758952" y="4069080"/>
            <a:ext cx="4937760" cy="73152"/>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389120"/>
            <a:ext cx="6858000" cy="685800"/>
          </a:xfrm>
          <a:prstGeom prst="rect">
            <a:avLst/>
          </a:prstGeom>
          <a:noFill/>
        </p:spPr>
        <p:txBody>
          <a:bodyPr wrap="square" lIns="45720" rIns="45720" anchor="t">
            <a:spAutoFit/>
          </a:bodyPr>
          <a:lstStyle/>
          <a:p>
            <a:pPr>
              <a:spcAft>
                <a:spcPts val="700"/>
              </a:spcAft>
              <a:defRPr sz="1600" b="0">
                <a:solidFill>
                  <a:srgbClr val="F5F8FF"/>
                </a:solidFill>
                <a:latin typeface="Aptos"/>
              </a:defRPr>
            </a:pPr>
            <a:r>
              <a:t>Dashboard walkthrough &amp; business interpretation</a:t>
            </a:r>
          </a:p>
        </p:txBody>
      </p:sp>
      <p:sp>
        <p:nvSpPr>
          <p:cNvPr id="12" name="TextBox 11"/>
          <p:cNvSpPr txBox="1"/>
          <p:nvPr/>
        </p:nvSpPr>
        <p:spPr>
          <a:xfrm>
            <a:off x="758952" y="5989320"/>
            <a:ext cx="6949440" cy="320040"/>
          </a:xfrm>
          <a:prstGeom prst="rect">
            <a:avLst/>
          </a:prstGeom>
          <a:noFill/>
        </p:spPr>
        <p:txBody>
          <a:bodyPr wrap="square" lIns="45720" rIns="45720" anchor="t">
            <a:spAutoFit/>
          </a:bodyPr>
          <a:lstStyle/>
          <a:p>
            <a:pPr>
              <a:spcAft>
                <a:spcPts val="700"/>
              </a:spcAft>
              <a:defRPr sz="1200" b="1">
                <a:solidFill>
                  <a:srgbClr val="FFCA6B"/>
                </a:solidFill>
                <a:latin typeface="Aptos"/>
              </a:defRPr>
            </a:pPr>
            <a:r>
              <a:t>Presented by: Samar Kushwaha  |  Power BI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01 / OVERVIEW</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Why HR Analytics matters</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clear view of workforce size, income, satisfaction, tenure and salary growth.</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02</a:t>
            </a:r>
          </a:p>
        </p:txBody>
      </p:sp>
      <p:sp>
        <p:nvSpPr>
          <p:cNvPr id="6" name="Rounded Rectangle 5"/>
          <p:cNvSpPr/>
          <p:nvPr/>
        </p:nvSpPr>
        <p:spPr>
          <a:xfrm>
            <a:off x="64008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73152" cy="18288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99339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SEE THE WORKFORCE</a:t>
            </a:r>
          </a:p>
        </p:txBody>
      </p:sp>
      <p:sp>
        <p:nvSpPr>
          <p:cNvPr id="9" name="TextBox 8"/>
          <p:cNvSpPr txBox="1"/>
          <p:nvPr/>
        </p:nvSpPr>
        <p:spPr>
          <a:xfrm>
            <a:off x="841247"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Understand how employees are distributed by gender, department, marital status and job role.</a:t>
            </a:r>
          </a:p>
        </p:txBody>
      </p:sp>
      <p:sp>
        <p:nvSpPr>
          <p:cNvPr id="10" name="Rounded Rectangle 9"/>
          <p:cNvSpPr/>
          <p:nvPr/>
        </p:nvSpPr>
        <p:spPr>
          <a:xfrm>
            <a:off x="434340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28800"/>
            <a:ext cx="73152" cy="18288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99339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SPOT PATTERNS</a:t>
            </a:r>
          </a:p>
        </p:txBody>
      </p:sp>
      <p:sp>
        <p:nvSpPr>
          <p:cNvPr id="13" name="TextBox 12"/>
          <p:cNvSpPr txBox="1"/>
          <p:nvPr/>
        </p:nvSpPr>
        <p:spPr>
          <a:xfrm>
            <a:off x="4544568"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Compare income, satisfaction, tenure and performance indicators across employee groups.</a:t>
            </a:r>
          </a:p>
        </p:txBody>
      </p:sp>
      <p:sp>
        <p:nvSpPr>
          <p:cNvPr id="14" name="Rounded Rectangle 13"/>
          <p:cNvSpPr/>
          <p:nvPr/>
        </p:nvSpPr>
        <p:spPr>
          <a:xfrm>
            <a:off x="804672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73152" cy="182880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99339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SUPPORT DECISIONS</a:t>
            </a:r>
          </a:p>
        </p:txBody>
      </p:sp>
      <p:sp>
        <p:nvSpPr>
          <p:cNvPr id="17" name="TextBox 16"/>
          <p:cNvSpPr txBox="1"/>
          <p:nvPr/>
        </p:nvSpPr>
        <p:spPr>
          <a:xfrm>
            <a:off x="8247888"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Help HR ask better questions about retention, engagement, pay fairness and development.</a:t>
            </a:r>
          </a:p>
        </p:txBody>
      </p:sp>
      <p:sp>
        <p:nvSpPr>
          <p:cNvPr id="18" name="Rounded Rectangle 17"/>
          <p:cNvSpPr/>
          <p:nvPr/>
        </p:nvSpPr>
        <p:spPr>
          <a:xfrm>
            <a:off x="640080" y="4069080"/>
            <a:ext cx="1092708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315968"/>
            <a:ext cx="10424160" cy="594360"/>
          </a:xfrm>
          <a:prstGeom prst="rect">
            <a:avLst/>
          </a:prstGeom>
          <a:noFill/>
        </p:spPr>
        <p:txBody>
          <a:bodyPr wrap="square" lIns="45720" rIns="45720" anchor="t">
            <a:spAutoFit/>
          </a:bodyPr>
          <a:lstStyle/>
          <a:p>
            <a:pPr>
              <a:spcAft>
                <a:spcPts val="700"/>
              </a:spcAft>
              <a:defRPr sz="1700" b="1">
                <a:solidFill>
                  <a:srgbClr val="F5F8FF"/>
                </a:solidFill>
                <a:latin typeface="Aptos"/>
              </a:defRPr>
            </a:pPr>
            <a:r>
              <a:t>Key message: the dashboard is a starting point for investigation—not proof of cause or employee performance by itself.</a:t>
            </a:r>
          </a:p>
        </p:txBody>
      </p:sp>
      <p:sp>
        <p:nvSpPr>
          <p:cNvPr id="20" name="TextBox 19"/>
          <p:cNvSpPr txBox="1"/>
          <p:nvPr/>
        </p:nvSpPr>
        <p:spPr>
          <a:xfrm>
            <a:off x="731520" y="5715000"/>
            <a:ext cx="10607040" cy="3200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Use slicers/filters such as Department to focus the analysis on a specific group.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02 / KPI SNAPSHOT</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The numbers at a glance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Values are shown as they appear in the supplied dashboard; confirm aggregation settings in Power BI.</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03</a:t>
            </a:r>
          </a:p>
        </p:txBody>
      </p:sp>
      <p:sp>
        <p:nvSpPr>
          <p:cNvPr id="6" name="Rounded Rectangle 5"/>
          <p:cNvSpPr/>
          <p:nvPr/>
        </p:nvSpPr>
        <p:spPr>
          <a:xfrm>
            <a:off x="640080"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01368"/>
            <a:ext cx="3054096" cy="475488"/>
          </a:xfrm>
          <a:prstGeom prst="rect">
            <a:avLst/>
          </a:prstGeom>
          <a:noFill/>
        </p:spPr>
        <p:txBody>
          <a:bodyPr wrap="square" lIns="45720" rIns="45720" anchor="t">
            <a:spAutoFit/>
          </a:bodyPr>
          <a:lstStyle/>
          <a:p>
            <a:pPr>
              <a:spcAft>
                <a:spcPts val="700"/>
              </a:spcAft>
              <a:defRPr sz="2700" b="1">
                <a:solidFill>
                  <a:srgbClr val="3EE0C9"/>
                </a:solidFill>
                <a:latin typeface="Aptos"/>
              </a:defRPr>
            </a:pPr>
            <a:r>
              <a:t>1,480</a:t>
            </a:r>
          </a:p>
        </p:txBody>
      </p:sp>
      <p:sp>
        <p:nvSpPr>
          <p:cNvPr id="8" name="TextBox 7"/>
          <p:cNvSpPr txBox="1"/>
          <p:nvPr/>
        </p:nvSpPr>
        <p:spPr>
          <a:xfrm>
            <a:off x="804671"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Employees / employee count</a:t>
            </a:r>
          </a:p>
        </p:txBody>
      </p:sp>
      <p:sp>
        <p:nvSpPr>
          <p:cNvPr id="9" name="TextBox 8"/>
          <p:cNvSpPr txBox="1"/>
          <p:nvPr/>
        </p:nvSpPr>
        <p:spPr>
          <a:xfrm>
            <a:off x="804671"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Workforce size reference</a:t>
            </a:r>
          </a:p>
        </p:txBody>
      </p:sp>
      <p:sp>
        <p:nvSpPr>
          <p:cNvPr id="10" name="Rounded Rectangle 9"/>
          <p:cNvSpPr/>
          <p:nvPr/>
        </p:nvSpPr>
        <p:spPr>
          <a:xfrm>
            <a:off x="4407408"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01368"/>
            <a:ext cx="3054096" cy="475488"/>
          </a:xfrm>
          <a:prstGeom prst="rect">
            <a:avLst/>
          </a:prstGeom>
          <a:noFill/>
        </p:spPr>
        <p:txBody>
          <a:bodyPr wrap="square" lIns="45720" rIns="45720" anchor="t">
            <a:spAutoFit/>
          </a:bodyPr>
          <a:lstStyle/>
          <a:p>
            <a:pPr>
              <a:spcAft>
                <a:spcPts val="700"/>
              </a:spcAft>
              <a:defRPr sz="2700" b="1">
                <a:solidFill>
                  <a:srgbClr val="5F9BFF"/>
                </a:solidFill>
                <a:latin typeface="Aptos"/>
              </a:defRPr>
            </a:pPr>
            <a:r>
              <a:t>6.50K</a:t>
            </a:r>
          </a:p>
        </p:txBody>
      </p:sp>
      <p:sp>
        <p:nvSpPr>
          <p:cNvPr id="12" name="TextBox 11"/>
          <p:cNvSpPr txBox="1"/>
          <p:nvPr/>
        </p:nvSpPr>
        <p:spPr>
          <a:xfrm>
            <a:off x="4572000"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monthly income*</a:t>
            </a:r>
          </a:p>
        </p:txBody>
      </p:sp>
      <p:sp>
        <p:nvSpPr>
          <p:cNvPr id="13" name="TextBox 12"/>
          <p:cNvSpPr txBox="1"/>
          <p:nvPr/>
        </p:nvSpPr>
        <p:spPr>
          <a:xfrm>
            <a:off x="4572000"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Pay level overview</a:t>
            </a:r>
          </a:p>
        </p:txBody>
      </p:sp>
      <p:sp>
        <p:nvSpPr>
          <p:cNvPr id="14" name="Rounded Rectangle 13"/>
          <p:cNvSpPr/>
          <p:nvPr/>
        </p:nvSpPr>
        <p:spPr>
          <a:xfrm>
            <a:off x="8174736"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1801368"/>
            <a:ext cx="3054096" cy="475488"/>
          </a:xfrm>
          <a:prstGeom prst="rect">
            <a:avLst/>
          </a:prstGeom>
          <a:noFill/>
        </p:spPr>
        <p:txBody>
          <a:bodyPr wrap="square" lIns="45720" rIns="45720" anchor="t">
            <a:spAutoFit/>
          </a:bodyPr>
          <a:lstStyle/>
          <a:p>
            <a:pPr>
              <a:spcAft>
                <a:spcPts val="700"/>
              </a:spcAft>
              <a:defRPr sz="2700" b="1">
                <a:solidFill>
                  <a:srgbClr val="FFCA6B"/>
                </a:solidFill>
                <a:latin typeface="Aptos"/>
              </a:defRPr>
            </a:pPr>
            <a:r>
              <a:t>7.01</a:t>
            </a:r>
          </a:p>
        </p:txBody>
      </p:sp>
      <p:sp>
        <p:nvSpPr>
          <p:cNvPr id="16" name="TextBox 15"/>
          <p:cNvSpPr txBox="1"/>
          <p:nvPr/>
        </p:nvSpPr>
        <p:spPr>
          <a:xfrm>
            <a:off x="8339327"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years at company</a:t>
            </a:r>
          </a:p>
        </p:txBody>
      </p:sp>
      <p:sp>
        <p:nvSpPr>
          <p:cNvPr id="17" name="TextBox 16"/>
          <p:cNvSpPr txBox="1"/>
          <p:nvPr/>
        </p:nvSpPr>
        <p:spPr>
          <a:xfrm>
            <a:off x="8339327"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Tenure / experience indicator</a:t>
            </a:r>
          </a:p>
        </p:txBody>
      </p:sp>
      <p:sp>
        <p:nvSpPr>
          <p:cNvPr id="18" name="Rounded Rectangle 17"/>
          <p:cNvSpPr/>
          <p:nvPr/>
        </p:nvSpPr>
        <p:spPr>
          <a:xfrm>
            <a:off x="640080"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3767328"/>
            <a:ext cx="3054096" cy="475488"/>
          </a:xfrm>
          <a:prstGeom prst="rect">
            <a:avLst/>
          </a:prstGeom>
          <a:noFill/>
        </p:spPr>
        <p:txBody>
          <a:bodyPr wrap="square" lIns="45720" rIns="45720" anchor="t">
            <a:spAutoFit/>
          </a:bodyPr>
          <a:lstStyle/>
          <a:p>
            <a:pPr>
              <a:spcAft>
                <a:spcPts val="700"/>
              </a:spcAft>
              <a:defRPr sz="2700" b="1">
                <a:solidFill>
                  <a:srgbClr val="FF7D7D"/>
                </a:solidFill>
                <a:latin typeface="Aptos"/>
              </a:defRPr>
            </a:pPr>
            <a:r>
              <a:t>15.21</a:t>
            </a:r>
          </a:p>
        </p:txBody>
      </p:sp>
      <p:sp>
        <p:nvSpPr>
          <p:cNvPr id="20" name="TextBox 19"/>
          <p:cNvSpPr txBox="1"/>
          <p:nvPr/>
        </p:nvSpPr>
        <p:spPr>
          <a:xfrm>
            <a:off x="804671"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salary hike*</a:t>
            </a:r>
          </a:p>
        </p:txBody>
      </p:sp>
      <p:sp>
        <p:nvSpPr>
          <p:cNvPr id="21" name="TextBox 20"/>
          <p:cNvSpPr txBox="1"/>
          <p:nvPr/>
        </p:nvSpPr>
        <p:spPr>
          <a:xfrm>
            <a:off x="804671"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Salary hike indicator</a:t>
            </a:r>
          </a:p>
        </p:txBody>
      </p:sp>
      <p:sp>
        <p:nvSpPr>
          <p:cNvPr id="22" name="Rounded Rectangle 21"/>
          <p:cNvSpPr/>
          <p:nvPr/>
        </p:nvSpPr>
        <p:spPr>
          <a:xfrm>
            <a:off x="4407408"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767328"/>
            <a:ext cx="3054096" cy="475488"/>
          </a:xfrm>
          <a:prstGeom prst="rect">
            <a:avLst/>
          </a:prstGeom>
          <a:noFill/>
        </p:spPr>
        <p:txBody>
          <a:bodyPr wrap="square" lIns="45720" rIns="45720" anchor="t">
            <a:spAutoFit/>
          </a:bodyPr>
          <a:lstStyle/>
          <a:p>
            <a:pPr>
              <a:spcAft>
                <a:spcPts val="700"/>
              </a:spcAft>
              <a:defRPr sz="2700" b="1">
                <a:solidFill>
                  <a:srgbClr val="3EE0C9"/>
                </a:solidFill>
                <a:latin typeface="Aptos"/>
              </a:defRPr>
            </a:pPr>
            <a:r>
              <a:t>65.85</a:t>
            </a:r>
          </a:p>
        </p:txBody>
      </p:sp>
      <p:sp>
        <p:nvSpPr>
          <p:cNvPr id="24" name="TextBox 23"/>
          <p:cNvSpPr txBox="1"/>
          <p:nvPr/>
        </p:nvSpPr>
        <p:spPr>
          <a:xfrm>
            <a:off x="4572000"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hourly rate</a:t>
            </a:r>
          </a:p>
        </p:txBody>
      </p:sp>
      <p:sp>
        <p:nvSpPr>
          <p:cNvPr id="25" name="TextBox 24"/>
          <p:cNvSpPr txBox="1"/>
          <p:nvPr/>
        </p:nvSpPr>
        <p:spPr>
          <a:xfrm>
            <a:off x="4572000"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Hourly pay-rate indicator</a:t>
            </a:r>
          </a:p>
        </p:txBody>
      </p:sp>
      <p:sp>
        <p:nvSpPr>
          <p:cNvPr id="26" name="Rounded Rectangle 25"/>
          <p:cNvSpPr/>
          <p:nvPr/>
        </p:nvSpPr>
        <p:spPr>
          <a:xfrm>
            <a:off x="8174736"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7" y="3767328"/>
            <a:ext cx="3054096" cy="475488"/>
          </a:xfrm>
          <a:prstGeom prst="rect">
            <a:avLst/>
          </a:prstGeom>
          <a:noFill/>
        </p:spPr>
        <p:txBody>
          <a:bodyPr wrap="square" lIns="45720" rIns="45720" anchor="t">
            <a:spAutoFit/>
          </a:bodyPr>
          <a:lstStyle/>
          <a:p>
            <a:pPr>
              <a:spcAft>
                <a:spcPts val="700"/>
              </a:spcAft>
              <a:defRPr sz="2700" b="1">
                <a:solidFill>
                  <a:srgbClr val="5F9BFF"/>
                </a:solidFill>
                <a:latin typeface="Aptos"/>
              </a:defRPr>
            </a:pPr>
            <a:r>
              <a:t>14.30K</a:t>
            </a:r>
          </a:p>
        </p:txBody>
      </p:sp>
      <p:sp>
        <p:nvSpPr>
          <p:cNvPr id="28" name="TextBox 27"/>
          <p:cNvSpPr txBox="1"/>
          <p:nvPr/>
        </p:nvSpPr>
        <p:spPr>
          <a:xfrm>
            <a:off x="8339327"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monthly rate</a:t>
            </a:r>
          </a:p>
        </p:txBody>
      </p:sp>
      <p:sp>
        <p:nvSpPr>
          <p:cNvPr id="29" name="TextBox 28"/>
          <p:cNvSpPr txBox="1"/>
          <p:nvPr/>
        </p:nvSpPr>
        <p:spPr>
          <a:xfrm>
            <a:off x="8339327"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Monthly rate indicator</a:t>
            </a:r>
          </a:p>
        </p:txBody>
      </p:sp>
      <p:sp>
        <p:nvSpPr>
          <p:cNvPr id="30" name="TextBox 29"/>
          <p:cNvSpPr txBox="1"/>
          <p:nvPr/>
        </p:nvSpPr>
        <p:spPr>
          <a:xfrm>
            <a:off x="777240" y="5650992"/>
            <a:ext cx="10698480" cy="411480"/>
          </a:xfrm>
          <a:prstGeom prst="rect">
            <a:avLst/>
          </a:prstGeom>
          <a:noFill/>
        </p:spPr>
        <p:txBody>
          <a:bodyPr wrap="square" lIns="45720" rIns="45720" anchor="t">
            <a:spAutoFit/>
          </a:bodyPr>
          <a:lstStyle/>
          <a:p>
            <a:pPr>
              <a:spcAft>
                <a:spcPts val="700"/>
              </a:spcAft>
              <a:defRPr sz="1000" b="0">
                <a:solidFill>
                  <a:srgbClr val="B2BFD4"/>
                </a:solidFill>
                <a:latin typeface="Aptos"/>
              </a:defRPr>
            </a:pPr>
            <a:r>
              <a:t>*The PDF labels the income and salary-hike cards as averages, but displayed formatting/aggregation should be checked against the underlying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03 / KPI INTERPRETATION</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What each KPI helps HR understand</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KPIs provide quick signals; always read them alongside the detailed charts.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04</a:t>
            </a:r>
          </a:p>
        </p:txBody>
      </p:sp>
      <p:sp>
        <p:nvSpPr>
          <p:cNvPr id="6" name="Rounded Rectangle 5"/>
          <p:cNvSpPr/>
          <p:nvPr/>
        </p:nvSpPr>
        <p:spPr>
          <a:xfrm>
            <a:off x="64008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Employee count — 1,480</a:t>
            </a:r>
          </a:p>
        </p:txBody>
      </p:sp>
      <p:sp>
        <p:nvSpPr>
          <p:cNvPr id="9" name="TextBox 8"/>
          <p:cNvSpPr txBox="1"/>
          <p:nvPr/>
        </p:nvSpPr>
        <p:spPr>
          <a:xfrm>
            <a:off x="841247"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workforce size represented in the dashboard. Useful as a base for comparing departments and employee groups.</a:t>
            </a:r>
          </a:p>
        </p:txBody>
      </p:sp>
      <p:sp>
        <p:nvSpPr>
          <p:cNvPr id="10" name="Rounded Rectangle 9"/>
          <p:cNvSpPr/>
          <p:nvPr/>
        </p:nvSpPr>
        <p:spPr>
          <a:xfrm>
            <a:off x="617220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Average monthly income — 6.50K</a:t>
            </a:r>
          </a:p>
        </p:txBody>
      </p:sp>
      <p:sp>
        <p:nvSpPr>
          <p:cNvPr id="13" name="TextBox 12"/>
          <p:cNvSpPr txBox="1"/>
          <p:nvPr/>
        </p:nvSpPr>
        <p:spPr>
          <a:xfrm>
            <a:off x="6373368"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Gives a high-level view of monthly income. Compare by role and education before drawing conclusions about pay.</a:t>
            </a:r>
          </a:p>
        </p:txBody>
      </p:sp>
      <p:sp>
        <p:nvSpPr>
          <p:cNvPr id="14" name="Rounded Rectangle 13"/>
          <p:cNvSpPr/>
          <p:nvPr/>
        </p:nvSpPr>
        <p:spPr>
          <a:xfrm>
            <a:off x="64008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Average years at company — 7.01</a:t>
            </a:r>
          </a:p>
        </p:txBody>
      </p:sp>
      <p:sp>
        <p:nvSpPr>
          <p:cNvPr id="17" name="TextBox 16"/>
          <p:cNvSpPr txBox="1"/>
          <p:nvPr/>
        </p:nvSpPr>
        <p:spPr>
          <a:xfrm>
            <a:off x="841247"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Summarises tenure. Helps explore retention and experience, but does not alone prove employee loyalty.</a:t>
            </a:r>
          </a:p>
        </p:txBody>
      </p:sp>
      <p:sp>
        <p:nvSpPr>
          <p:cNvPr id="18" name="Rounded Rectangle 17"/>
          <p:cNvSpPr/>
          <p:nvPr/>
        </p:nvSpPr>
        <p:spPr>
          <a:xfrm>
            <a:off x="617220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50215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Salary hike — 15.21; hourly rate — 65.85</a:t>
            </a:r>
          </a:p>
        </p:txBody>
      </p:sp>
      <p:sp>
        <p:nvSpPr>
          <p:cNvPr id="21" name="TextBox 20"/>
          <p:cNvSpPr txBox="1"/>
          <p:nvPr/>
        </p:nvSpPr>
        <p:spPr>
          <a:xfrm>
            <a:off x="6373368"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Offer a quick view of compensation-related measures. Confirm units, time period and whether the fields are percentages or rates.</a:t>
            </a:r>
          </a:p>
        </p:txBody>
      </p:sp>
      <p:sp>
        <p:nvSpPr>
          <p:cNvPr id="22" name="Rounded Rectangle 21"/>
          <p:cNvSpPr/>
          <p:nvPr/>
        </p:nvSpPr>
        <p:spPr>
          <a:xfrm>
            <a:off x="640080" y="5166360"/>
            <a:ext cx="10835640" cy="658368"/>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340096"/>
            <a:ext cx="10332720" cy="292608"/>
          </a:xfrm>
          <a:prstGeom prst="rect">
            <a:avLst/>
          </a:prstGeom>
          <a:noFill/>
        </p:spPr>
        <p:txBody>
          <a:bodyPr wrap="square" lIns="45720" rIns="45720" anchor="t">
            <a:spAutoFit/>
          </a:bodyPr>
          <a:lstStyle/>
          <a:p>
            <a:pPr>
              <a:spcAft>
                <a:spcPts val="700"/>
              </a:spcAft>
              <a:defRPr sz="1200" b="1">
                <a:solidFill>
                  <a:srgbClr val="F5F8FF"/>
                </a:solidFill>
                <a:latin typeface="Aptos"/>
              </a:defRPr>
            </a:pPr>
            <a:r>
              <a:t>Monthly rate — 14.30K: another pay-related indicator; interpret only after confirming its definition in the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04 / DASHBOARD PAGE 1</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Employee mix &amp; satisfaction</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These visuals help compare employee groups and explore where satisfaction and income differ.</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05</a:t>
            </a:r>
          </a:p>
        </p:txBody>
      </p:sp>
      <p:sp>
        <p:nvSpPr>
          <p:cNvPr id="6" name="Rounded Rectangle 5"/>
          <p:cNvSpPr/>
          <p:nvPr/>
        </p:nvSpPr>
        <p:spPr>
          <a:xfrm>
            <a:off x="640080" y="164592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49651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Job satisfaction by marital status</a:t>
            </a:r>
          </a:p>
        </p:txBody>
      </p:sp>
      <p:sp>
        <p:nvSpPr>
          <p:cNvPr id="9" name="TextBox 8"/>
          <p:cNvSpPr txBox="1"/>
          <p:nvPr/>
        </p:nvSpPr>
        <p:spPr>
          <a:xfrm>
            <a:off x="841247" y="2212848"/>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The chart compares the dashboard’s summed satisfaction values for Married, Single and Divorced groups. Use it to explore group differences; a sum is not an average satisfaction score.</a:t>
            </a:r>
          </a:p>
        </p:txBody>
      </p:sp>
      <p:sp>
        <p:nvSpPr>
          <p:cNvPr id="10" name="Rounded Rectangle 9"/>
          <p:cNvSpPr/>
          <p:nvPr/>
        </p:nvSpPr>
        <p:spPr>
          <a:xfrm>
            <a:off x="6199632" y="164592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164592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10512"/>
            <a:ext cx="49651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Employee count by gender</a:t>
            </a:r>
          </a:p>
        </p:txBody>
      </p:sp>
      <p:sp>
        <p:nvSpPr>
          <p:cNvPr id="13" name="TextBox 12"/>
          <p:cNvSpPr txBox="1"/>
          <p:nvPr/>
        </p:nvSpPr>
        <p:spPr>
          <a:xfrm>
            <a:off x="6400800" y="2212848"/>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Shows 889 male employees (60.07%) and 591 female employees (39.93%). Useful for understanding workforce composition and checking representation.</a:t>
            </a:r>
          </a:p>
        </p:txBody>
      </p:sp>
      <p:sp>
        <p:nvSpPr>
          <p:cNvPr id="14" name="Rounded Rectangle 13"/>
          <p:cNvSpPr/>
          <p:nvPr/>
        </p:nvSpPr>
        <p:spPr>
          <a:xfrm>
            <a:off x="640080" y="333756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651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Monthly income by education</a:t>
            </a:r>
          </a:p>
        </p:txBody>
      </p:sp>
      <p:sp>
        <p:nvSpPr>
          <p:cNvPr id="17" name="TextBox 16"/>
          <p:cNvSpPr txBox="1"/>
          <p:nvPr/>
        </p:nvSpPr>
        <p:spPr>
          <a:xfrm>
            <a:off x="841247" y="3904487"/>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Compares income totals across education categories 1–5. Helps explore whether income patterns vary by education level, but totals may reflect group size.</a:t>
            </a:r>
          </a:p>
        </p:txBody>
      </p:sp>
      <p:sp>
        <p:nvSpPr>
          <p:cNvPr id="18" name="Rounded Rectangle 17"/>
          <p:cNvSpPr/>
          <p:nvPr/>
        </p:nvSpPr>
        <p:spPr>
          <a:xfrm>
            <a:off x="6199632" y="333756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502152"/>
            <a:ext cx="496519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Monthly income by job role</a:t>
            </a:r>
          </a:p>
        </p:txBody>
      </p:sp>
      <p:sp>
        <p:nvSpPr>
          <p:cNvPr id="21" name="TextBox 20"/>
          <p:cNvSpPr txBox="1"/>
          <p:nvPr/>
        </p:nvSpPr>
        <p:spPr>
          <a:xfrm>
            <a:off x="6400800" y="3904487"/>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Compares income totals across roles. Useful for identifying roles with larger total payroll and selecting roles for a deeper pay analysis.</a:t>
            </a:r>
          </a:p>
        </p:txBody>
      </p:sp>
      <p:sp>
        <p:nvSpPr>
          <p:cNvPr id="22" name="TextBox 21"/>
          <p:cNvSpPr txBox="1"/>
          <p:nvPr/>
        </p:nvSpPr>
        <p:spPr>
          <a:xfrm>
            <a:off x="777240" y="5230368"/>
            <a:ext cx="10607040" cy="566928"/>
          </a:xfrm>
          <a:prstGeom prst="rect">
            <a:avLst/>
          </a:prstGeom>
          <a:noFill/>
        </p:spPr>
        <p:txBody>
          <a:bodyPr wrap="square" lIns="45720" rIns="45720" anchor="t">
            <a:spAutoFit/>
          </a:bodyPr>
          <a:lstStyle/>
          <a:p>
            <a:pPr>
              <a:spcAft>
                <a:spcPts val="700"/>
              </a:spcAft>
              <a:defRPr sz="1200" b="0">
                <a:solidFill>
                  <a:srgbClr val="B2BFD4"/>
                </a:solidFill>
                <a:latin typeface="Aptos"/>
              </a:defRPr>
            </a:pPr>
            <a:r>
              <a:t>Design note: use readable labels, consistent units and average income per employee when the goal is to compare pay levels.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05 / DASHBOARD PAGE 1</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Job role, level &amp; performance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 role-based charts connect workforce structure with satisfaction and performance-related fields.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06</a:t>
            </a:r>
          </a:p>
        </p:txBody>
      </p:sp>
      <p:sp>
        <p:nvSpPr>
          <p:cNvPr id="6" name="Rounded Rectangle 5"/>
          <p:cNvSpPr/>
          <p:nvPr/>
        </p:nvSpPr>
        <p:spPr>
          <a:xfrm>
            <a:off x="64008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92024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Satisfaction by job role</a:t>
            </a:r>
          </a:p>
        </p:txBody>
      </p:sp>
      <p:sp>
        <p:nvSpPr>
          <p:cNvPr id="9" name="TextBox 8"/>
          <p:cNvSpPr txBox="1"/>
          <p:nvPr/>
        </p:nvSpPr>
        <p:spPr>
          <a:xfrm>
            <a:off x="841247"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summed satisfaction values for roles such as Sales Executive, Research Scientist, Laboratory Technician and Manager. Consider average satisfaction per employee for fair comparisons.</a:t>
            </a:r>
          </a:p>
        </p:txBody>
      </p:sp>
      <p:sp>
        <p:nvSpPr>
          <p:cNvPr id="10" name="Rounded Rectangle 9"/>
          <p:cNvSpPr/>
          <p:nvPr/>
        </p:nvSpPr>
        <p:spPr>
          <a:xfrm>
            <a:off x="434340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91640"/>
            <a:ext cx="73152" cy="192024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85623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Job level by job role</a:t>
            </a:r>
          </a:p>
        </p:txBody>
      </p:sp>
      <p:sp>
        <p:nvSpPr>
          <p:cNvPr id="13" name="TextBox 12"/>
          <p:cNvSpPr txBox="1"/>
          <p:nvPr/>
        </p:nvSpPr>
        <p:spPr>
          <a:xfrm>
            <a:off x="4544568"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sum of job-level values by role. Useful for exploring workforce seniority, but counts of employees per role affect the total.</a:t>
            </a:r>
          </a:p>
        </p:txBody>
      </p:sp>
      <p:sp>
        <p:nvSpPr>
          <p:cNvPr id="14" name="Rounded Rectangle 13"/>
          <p:cNvSpPr/>
          <p:nvPr/>
        </p:nvSpPr>
        <p:spPr>
          <a:xfrm>
            <a:off x="804672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91640"/>
            <a:ext cx="73152" cy="192024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85623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Performance rating by role</a:t>
            </a:r>
          </a:p>
        </p:txBody>
      </p:sp>
      <p:sp>
        <p:nvSpPr>
          <p:cNvPr id="17" name="TextBox 16"/>
          <p:cNvSpPr txBox="1"/>
          <p:nvPr/>
        </p:nvSpPr>
        <p:spPr>
          <a:xfrm>
            <a:off x="8247888"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summed performance-rating values across roles. For meaningful comparisons, average rating and rating distribution are usually easier to interpret.</a:t>
            </a:r>
          </a:p>
        </p:txBody>
      </p:sp>
      <p:sp>
        <p:nvSpPr>
          <p:cNvPr id="18" name="Rounded Rectangle 17"/>
          <p:cNvSpPr/>
          <p:nvPr/>
        </p:nvSpPr>
        <p:spPr>
          <a:xfrm>
            <a:off x="640080" y="4160520"/>
            <a:ext cx="1092708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389120"/>
            <a:ext cx="10332720" cy="640080"/>
          </a:xfrm>
          <a:prstGeom prst="rect">
            <a:avLst/>
          </a:prstGeom>
          <a:noFill/>
        </p:spPr>
        <p:txBody>
          <a:bodyPr wrap="square" lIns="45720" rIns="45720" anchor="t">
            <a:spAutoFit/>
          </a:bodyPr>
          <a:lstStyle/>
          <a:p>
            <a:pPr>
              <a:spcAft>
                <a:spcPts val="700"/>
              </a:spcAft>
              <a:defRPr sz="1600" b="1">
                <a:solidFill>
                  <a:srgbClr val="F5F8FF"/>
                </a:solidFill>
                <a:latin typeface="Aptos"/>
              </a:defRPr>
            </a:pPr>
            <a:r>
              <a:t>Business use: HR can identify which roles need a closer review of engagement, career levels or performance processes—then validate with detailed employee-level data.</a:t>
            </a:r>
          </a:p>
        </p:txBody>
      </p:sp>
      <p:sp>
        <p:nvSpPr>
          <p:cNvPr id="20" name="TextBox 19"/>
          <p:cNvSpPr txBox="1"/>
          <p:nvPr/>
        </p:nvSpPr>
        <p:spPr>
          <a:xfrm>
            <a:off x="777240" y="5760720"/>
            <a:ext cx="10424160" cy="274320"/>
          </a:xfrm>
          <a:prstGeom prst="rect">
            <a:avLst/>
          </a:prstGeom>
          <a:noFill/>
        </p:spPr>
        <p:txBody>
          <a:bodyPr wrap="square" lIns="45720" rIns="45720" anchor="t">
            <a:spAutoFit/>
          </a:bodyPr>
          <a:lstStyle/>
          <a:p>
            <a:pPr>
              <a:spcAft>
                <a:spcPts val="700"/>
              </a:spcAft>
              <a:defRPr sz="1100" b="0">
                <a:solidFill>
                  <a:srgbClr val="B2BFD4"/>
                </a:solidFill>
                <a:latin typeface="Aptos"/>
              </a:defRPr>
            </a:pPr>
            <a:r>
              <a:t>Caution: summed ratings are totals, not a rating out of 5 and not proof that one role performs better.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06 / DASHBOARD PAGE 2</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A second view of the workforce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Page 2 repeats key indicators and adds department and age/tenure comparisons.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07</a:t>
            </a:r>
          </a:p>
        </p:txBody>
      </p:sp>
      <p:sp>
        <p:nvSpPr>
          <p:cNvPr id="6" name="Rounded Rectangle 5"/>
          <p:cNvSpPr/>
          <p:nvPr/>
        </p:nvSpPr>
        <p:spPr>
          <a:xfrm>
            <a:off x="64008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Repeated KPI cards</a:t>
            </a:r>
          </a:p>
        </p:txBody>
      </p:sp>
      <p:sp>
        <p:nvSpPr>
          <p:cNvPr id="9" name="TextBox 8"/>
          <p:cNvSpPr txBox="1"/>
          <p:nvPr/>
        </p:nvSpPr>
        <p:spPr>
          <a:xfrm>
            <a:off x="841247" y="2258568"/>
            <a:ext cx="491947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Employee count (1,480), average monthly income (6.50K), average years at company (7.01), average salary hike (15.21), average hourly rate (65.85) and average monthly rate (14.30K).</a:t>
            </a:r>
          </a:p>
        </p:txBody>
      </p:sp>
      <p:sp>
        <p:nvSpPr>
          <p:cNvPr id="10" name="Rounded Rectangle 9"/>
          <p:cNvSpPr/>
          <p:nvPr/>
        </p:nvSpPr>
        <p:spPr>
          <a:xfrm>
            <a:off x="617220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Why repeat KPIs?</a:t>
            </a:r>
          </a:p>
        </p:txBody>
      </p:sp>
      <p:sp>
        <p:nvSpPr>
          <p:cNvPr id="13" name="TextBox 12"/>
          <p:cNvSpPr txBox="1"/>
          <p:nvPr/>
        </p:nvSpPr>
        <p:spPr>
          <a:xfrm>
            <a:off x="6373368"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It gives the audience a quick summary on this page before they read the detailed visuals. It also makes the dashboard easier to present and scan.</a:t>
            </a:r>
          </a:p>
        </p:txBody>
      </p:sp>
      <p:sp>
        <p:nvSpPr>
          <p:cNvPr id="14" name="Rounded Rectangle 13"/>
          <p:cNvSpPr/>
          <p:nvPr/>
        </p:nvSpPr>
        <p:spPr>
          <a:xfrm>
            <a:off x="64008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Count of employees by gender</a:t>
            </a:r>
          </a:p>
        </p:txBody>
      </p:sp>
      <p:sp>
        <p:nvSpPr>
          <p:cNvPr id="17" name="TextBox 16"/>
          <p:cNvSpPr txBox="1"/>
          <p:nvPr/>
        </p:nvSpPr>
        <p:spPr>
          <a:xfrm>
            <a:off x="841247"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Repeats the gender mix: 889 male (60.07%) and 591 female (39.93%). Use the same base count to compare with other workforce views.</a:t>
            </a:r>
          </a:p>
        </p:txBody>
      </p:sp>
      <p:sp>
        <p:nvSpPr>
          <p:cNvPr id="18" name="Rounded Rectangle 17"/>
          <p:cNvSpPr/>
          <p:nvPr/>
        </p:nvSpPr>
        <p:spPr>
          <a:xfrm>
            <a:off x="617220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50215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Monthly income by job role</a:t>
            </a:r>
          </a:p>
        </p:txBody>
      </p:sp>
      <p:sp>
        <p:nvSpPr>
          <p:cNvPr id="21" name="TextBox 20"/>
          <p:cNvSpPr txBox="1"/>
          <p:nvPr/>
        </p:nvSpPr>
        <p:spPr>
          <a:xfrm>
            <a:off x="6373368"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total monthly income attributed to each job role. A role with a high total may have more employees, higher pay, or both.</a:t>
            </a:r>
          </a:p>
        </p:txBody>
      </p:sp>
      <p:sp>
        <p:nvSpPr>
          <p:cNvPr id="22" name="TextBox 21"/>
          <p:cNvSpPr txBox="1"/>
          <p:nvPr/>
        </p:nvSpPr>
        <p:spPr>
          <a:xfrm>
            <a:off x="777240" y="5230368"/>
            <a:ext cx="10607040" cy="5486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Suggested follow-up: show employee count and average income together by role to separate team size from pay level.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07 / DASHBOARD PAGE 2</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Department mix &amp; years at company by age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These charts help HR move from an overall summary to group-level questions.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08</a:t>
            </a:r>
          </a:p>
        </p:txBody>
      </p:sp>
      <p:sp>
        <p:nvSpPr>
          <p:cNvPr id="6" name="Rounded Rectangle 5"/>
          <p:cNvSpPr/>
          <p:nvPr/>
        </p:nvSpPr>
        <p:spPr>
          <a:xfrm>
            <a:off x="640080" y="1691640"/>
            <a:ext cx="5303520" cy="16459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6459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Employee count by department</a:t>
            </a:r>
          </a:p>
        </p:txBody>
      </p:sp>
      <p:sp>
        <p:nvSpPr>
          <p:cNvPr id="9" name="TextBox 8"/>
          <p:cNvSpPr txBox="1"/>
          <p:nvPr/>
        </p:nvSpPr>
        <p:spPr>
          <a:xfrm>
            <a:off x="841247" y="2258568"/>
            <a:ext cx="4919472" cy="9601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Research &amp; Development, Sales and Human Resources using employee counts. Helps HR understand where the workforce is concentrated and plan staffing.</a:t>
            </a:r>
          </a:p>
        </p:txBody>
      </p:sp>
      <p:sp>
        <p:nvSpPr>
          <p:cNvPr id="10" name="Rounded Rectangle 9"/>
          <p:cNvSpPr/>
          <p:nvPr/>
        </p:nvSpPr>
        <p:spPr>
          <a:xfrm>
            <a:off x="6172200" y="1691640"/>
            <a:ext cx="5303520" cy="16459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6459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Years at company by age</a:t>
            </a:r>
          </a:p>
        </p:txBody>
      </p:sp>
      <p:sp>
        <p:nvSpPr>
          <p:cNvPr id="13" name="TextBox 12"/>
          <p:cNvSpPr txBox="1"/>
          <p:nvPr/>
        </p:nvSpPr>
        <p:spPr>
          <a:xfrm>
            <a:off x="6373368" y="2258568"/>
            <a:ext cx="4919472" cy="9601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summed tenure across age values/groups. Useful for exploring workforce experience patterns, but a sum can be affected by the number of employees in each age group.</a:t>
            </a:r>
          </a:p>
        </p:txBody>
      </p:sp>
      <p:sp>
        <p:nvSpPr>
          <p:cNvPr id="14" name="Rounded Rectangle 13"/>
          <p:cNvSpPr/>
          <p:nvPr/>
        </p:nvSpPr>
        <p:spPr>
          <a:xfrm>
            <a:off x="640080" y="3703320"/>
            <a:ext cx="1083564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59352"/>
            <a:ext cx="10287000" cy="621792"/>
          </a:xfrm>
          <a:prstGeom prst="rect">
            <a:avLst/>
          </a:prstGeom>
          <a:noFill/>
        </p:spPr>
        <p:txBody>
          <a:bodyPr wrap="square" lIns="45720" rIns="45720" anchor="t">
            <a:spAutoFit/>
          </a:bodyPr>
          <a:lstStyle/>
          <a:p>
            <a:pPr>
              <a:spcAft>
                <a:spcPts val="700"/>
              </a:spcAft>
              <a:defRPr sz="1600" b="1">
                <a:solidFill>
                  <a:srgbClr val="F5F8FF"/>
                </a:solidFill>
                <a:latin typeface="Aptos"/>
              </a:defRPr>
            </a:pPr>
            <a:r>
              <a:t>Possible HR questions: Which department has the largest workforce? Do age groups differ in accumulated tenure? Are results driven by group size?</a:t>
            </a:r>
          </a:p>
        </p:txBody>
      </p:sp>
      <p:sp>
        <p:nvSpPr>
          <p:cNvPr id="16" name="TextBox 15"/>
          <p:cNvSpPr txBox="1"/>
          <p:nvPr/>
        </p:nvSpPr>
        <p:spPr>
          <a:xfrm>
            <a:off x="777240" y="5349240"/>
            <a:ext cx="10515600" cy="5486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Improvement: use average years at company by age band, and show employee count alongside it for a fairer comparison.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08 / BUSINESS VALUE</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Benefits of this dashboard</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useful dashboard turns a large dataset into a set of focused HR questions.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09</a:t>
            </a:r>
          </a:p>
        </p:txBody>
      </p:sp>
      <p:sp>
        <p:nvSpPr>
          <p:cNvPr id="6" name="Rounded Rectangle 5"/>
          <p:cNvSpPr/>
          <p:nvPr/>
        </p:nvSpPr>
        <p:spPr>
          <a:xfrm>
            <a:off x="64008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150876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Faster reporting</a:t>
            </a:r>
          </a:p>
        </p:txBody>
      </p:sp>
      <p:sp>
        <p:nvSpPr>
          <p:cNvPr id="9" name="TextBox 8"/>
          <p:cNvSpPr txBox="1"/>
          <p:nvPr/>
        </p:nvSpPr>
        <p:spPr>
          <a:xfrm>
            <a:off x="841247"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KPI cards give a quick snapshot without reading rows of data.</a:t>
            </a:r>
          </a:p>
        </p:txBody>
      </p:sp>
      <p:sp>
        <p:nvSpPr>
          <p:cNvPr id="10" name="Rounded Rectangle 9"/>
          <p:cNvSpPr/>
          <p:nvPr/>
        </p:nvSpPr>
        <p:spPr>
          <a:xfrm>
            <a:off x="434340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45920"/>
            <a:ext cx="73152" cy="150876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81051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Better comparisons</a:t>
            </a:r>
          </a:p>
        </p:txBody>
      </p:sp>
      <p:sp>
        <p:nvSpPr>
          <p:cNvPr id="13" name="TextBox 12"/>
          <p:cNvSpPr txBox="1"/>
          <p:nvPr/>
        </p:nvSpPr>
        <p:spPr>
          <a:xfrm>
            <a:off x="4544568"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Charts make group differences easier to notice and discuss.</a:t>
            </a:r>
          </a:p>
        </p:txBody>
      </p:sp>
      <p:sp>
        <p:nvSpPr>
          <p:cNvPr id="14" name="Rounded Rectangle 13"/>
          <p:cNvSpPr/>
          <p:nvPr/>
        </p:nvSpPr>
        <p:spPr>
          <a:xfrm>
            <a:off x="804672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45920"/>
            <a:ext cx="73152" cy="150876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81051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Workforce planning</a:t>
            </a:r>
          </a:p>
        </p:txBody>
      </p:sp>
      <p:sp>
        <p:nvSpPr>
          <p:cNvPr id="17" name="TextBox 16"/>
          <p:cNvSpPr txBox="1"/>
          <p:nvPr/>
        </p:nvSpPr>
        <p:spPr>
          <a:xfrm>
            <a:off x="8247888"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Department and role views can support staffing conversations.</a:t>
            </a:r>
          </a:p>
        </p:txBody>
      </p:sp>
      <p:sp>
        <p:nvSpPr>
          <p:cNvPr id="18" name="Rounded Rectangle 17"/>
          <p:cNvSpPr/>
          <p:nvPr/>
        </p:nvSpPr>
        <p:spPr>
          <a:xfrm>
            <a:off x="64008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429000"/>
            <a:ext cx="73152" cy="150876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593592"/>
            <a:ext cx="313639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Retention exploration</a:t>
            </a:r>
          </a:p>
        </p:txBody>
      </p:sp>
      <p:sp>
        <p:nvSpPr>
          <p:cNvPr id="21" name="TextBox 20"/>
          <p:cNvSpPr txBox="1"/>
          <p:nvPr/>
        </p:nvSpPr>
        <p:spPr>
          <a:xfrm>
            <a:off x="841247"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Tenure and satisfaction views help identify questions for follow-up.</a:t>
            </a:r>
          </a:p>
        </p:txBody>
      </p:sp>
      <p:sp>
        <p:nvSpPr>
          <p:cNvPr id="22" name="Rounded Rectangle 21"/>
          <p:cNvSpPr/>
          <p:nvPr/>
        </p:nvSpPr>
        <p:spPr>
          <a:xfrm>
            <a:off x="434340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429000"/>
            <a:ext cx="73152" cy="150876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59359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Compensation review</a:t>
            </a:r>
          </a:p>
        </p:txBody>
      </p:sp>
      <p:sp>
        <p:nvSpPr>
          <p:cNvPr id="25" name="TextBox 24"/>
          <p:cNvSpPr txBox="1"/>
          <p:nvPr/>
        </p:nvSpPr>
        <p:spPr>
          <a:xfrm>
            <a:off x="4544568"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Income and salary-hike measures help guide deeper pay analysis.</a:t>
            </a:r>
          </a:p>
        </p:txBody>
      </p:sp>
      <p:sp>
        <p:nvSpPr>
          <p:cNvPr id="26" name="Rounded Rectangle 25"/>
          <p:cNvSpPr/>
          <p:nvPr/>
        </p:nvSpPr>
        <p:spPr>
          <a:xfrm>
            <a:off x="804672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429000"/>
            <a:ext cx="73152" cy="150876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359359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Clear communication</a:t>
            </a:r>
          </a:p>
        </p:txBody>
      </p:sp>
      <p:sp>
        <p:nvSpPr>
          <p:cNvPr id="29" name="TextBox 28"/>
          <p:cNvSpPr txBox="1"/>
          <p:nvPr/>
        </p:nvSpPr>
        <p:spPr>
          <a:xfrm>
            <a:off x="8247888"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A consistent visual layout helps stakeholders understand key signals.</a:t>
            </a:r>
          </a:p>
        </p:txBody>
      </p:sp>
      <p:sp>
        <p:nvSpPr>
          <p:cNvPr id="30" name="TextBox 29"/>
          <p:cNvSpPr txBox="1"/>
          <p:nvPr/>
        </p:nvSpPr>
        <p:spPr>
          <a:xfrm>
            <a:off x="777240" y="5394960"/>
            <a:ext cx="10698480" cy="502920"/>
          </a:xfrm>
          <a:prstGeom prst="rect">
            <a:avLst/>
          </a:prstGeom>
          <a:noFill/>
        </p:spPr>
        <p:txBody>
          <a:bodyPr wrap="square" lIns="45720" rIns="45720" anchor="t">
            <a:spAutoFit/>
          </a:bodyPr>
          <a:lstStyle/>
          <a:p>
            <a:pPr>
              <a:spcAft>
                <a:spcPts val="700"/>
              </a:spcAft>
              <a:defRPr sz="1300" b="0">
                <a:solidFill>
                  <a:srgbClr val="B2BFD4"/>
                </a:solidFill>
                <a:latin typeface="Aptos"/>
              </a:defRPr>
            </a:pPr>
            <a:r>
              <a:t>The dashboard supports decisions; it does not replace HR context, employee feedback or careful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09 / MAKE THE ANALYSIS STRONGER</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Recommended improvements</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polished dashboard is not just attractive—it must also be accurate and easy to interpret.</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10</a:t>
            </a:r>
          </a:p>
        </p:txBody>
      </p:sp>
      <p:sp>
        <p:nvSpPr>
          <p:cNvPr id="6" name="Rounded Rectangle 5"/>
          <p:cNvSpPr/>
          <p:nvPr/>
        </p:nvSpPr>
        <p:spPr>
          <a:xfrm>
            <a:off x="640080" y="160020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73152" cy="132588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6479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1. Check aggregation</a:t>
            </a:r>
          </a:p>
        </p:txBody>
      </p:sp>
      <p:sp>
        <p:nvSpPr>
          <p:cNvPr id="9" name="TextBox 8"/>
          <p:cNvSpPr txBox="1"/>
          <p:nvPr/>
        </p:nvSpPr>
        <p:spPr>
          <a:xfrm>
            <a:off x="841247" y="216712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Use Average for satisfaction, performance rating, job level and tenure when comparing typical employees. Use Count for employee numbers.</a:t>
            </a:r>
          </a:p>
        </p:txBody>
      </p:sp>
      <p:sp>
        <p:nvSpPr>
          <p:cNvPr id="10" name="Rounded Rectangle 9"/>
          <p:cNvSpPr/>
          <p:nvPr/>
        </p:nvSpPr>
        <p:spPr>
          <a:xfrm>
            <a:off x="6172200" y="160020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00200"/>
            <a:ext cx="73152" cy="132588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6479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2. Label units clearly</a:t>
            </a:r>
          </a:p>
        </p:txBody>
      </p:sp>
      <p:sp>
        <p:nvSpPr>
          <p:cNvPr id="13" name="TextBox 12"/>
          <p:cNvSpPr txBox="1"/>
          <p:nvPr/>
        </p:nvSpPr>
        <p:spPr>
          <a:xfrm>
            <a:off x="6373368" y="216712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Clarify whether income is currency, salary hike is a percentage, and monthly rate/hourly rate are defined fields in the source data.</a:t>
            </a:r>
          </a:p>
        </p:txBody>
      </p:sp>
      <p:sp>
        <p:nvSpPr>
          <p:cNvPr id="14" name="Rounded Rectangle 13"/>
          <p:cNvSpPr/>
          <p:nvPr/>
        </p:nvSpPr>
        <p:spPr>
          <a:xfrm>
            <a:off x="640080" y="315468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154680"/>
            <a:ext cx="73152" cy="132588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31927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3. Add useful filters</a:t>
            </a:r>
          </a:p>
        </p:txBody>
      </p:sp>
      <p:sp>
        <p:nvSpPr>
          <p:cNvPr id="17" name="TextBox 16"/>
          <p:cNvSpPr txBox="1"/>
          <p:nvPr/>
        </p:nvSpPr>
        <p:spPr>
          <a:xfrm>
            <a:off x="841247" y="372160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Department, job role, gender and age band can help users explore focused subsets.</a:t>
            </a:r>
          </a:p>
        </p:txBody>
      </p:sp>
      <p:sp>
        <p:nvSpPr>
          <p:cNvPr id="18" name="Rounded Rectangle 17"/>
          <p:cNvSpPr/>
          <p:nvPr/>
        </p:nvSpPr>
        <p:spPr>
          <a:xfrm>
            <a:off x="6172200" y="315468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154680"/>
            <a:ext cx="73152" cy="132588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31927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4. Improve comparisons</a:t>
            </a:r>
          </a:p>
        </p:txBody>
      </p:sp>
      <p:sp>
        <p:nvSpPr>
          <p:cNvPr id="21" name="TextBox 20"/>
          <p:cNvSpPr txBox="1"/>
          <p:nvPr/>
        </p:nvSpPr>
        <p:spPr>
          <a:xfrm>
            <a:off x="6373368" y="372160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Show employee count next to totals and use averages/rates for fair group comparisons.</a:t>
            </a:r>
          </a:p>
        </p:txBody>
      </p:sp>
      <p:sp>
        <p:nvSpPr>
          <p:cNvPr id="22" name="Rounded Rectangle 21"/>
          <p:cNvSpPr/>
          <p:nvPr/>
        </p:nvSpPr>
        <p:spPr>
          <a:xfrm>
            <a:off x="640080" y="4800600"/>
            <a:ext cx="10835640" cy="77724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010912"/>
            <a:ext cx="10287000" cy="365760"/>
          </a:xfrm>
          <a:prstGeom prst="rect">
            <a:avLst/>
          </a:prstGeom>
          <a:noFill/>
        </p:spPr>
        <p:txBody>
          <a:bodyPr wrap="square" lIns="45720" rIns="45720" anchor="t">
            <a:spAutoFit/>
          </a:bodyPr>
          <a:lstStyle/>
          <a:p>
            <a:pPr>
              <a:spcAft>
                <a:spcPts val="700"/>
              </a:spcAft>
              <a:defRPr sz="1300" b="1">
                <a:solidFill>
                  <a:srgbClr val="F5F8FF"/>
                </a:solidFill>
                <a:latin typeface="Aptos"/>
              </a:defRPr>
            </a:pPr>
            <a:r>
              <a:t>5. Protect privacy: present group-level trends and avoid exposing identifiable employee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10 / WRAP-UP</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From dashboard to action</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 most important outcome is the quality of the questions HR can ask next.</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11</a:t>
            </a:r>
          </a:p>
        </p:txBody>
      </p:sp>
      <p:sp>
        <p:nvSpPr>
          <p:cNvPr id="6" name="TextBox 5"/>
          <p:cNvSpPr txBox="1"/>
          <p:nvPr/>
        </p:nvSpPr>
        <p:spPr>
          <a:xfrm>
            <a:off x="822960" y="1645920"/>
            <a:ext cx="10607040" cy="640080"/>
          </a:xfrm>
          <a:prstGeom prst="rect">
            <a:avLst/>
          </a:prstGeom>
          <a:noFill/>
        </p:spPr>
        <p:txBody>
          <a:bodyPr wrap="square" lIns="45720" rIns="45720" anchor="t">
            <a:spAutoFit/>
          </a:bodyPr>
          <a:lstStyle/>
          <a:p>
            <a:pPr>
              <a:spcAft>
                <a:spcPts val="700"/>
              </a:spcAft>
              <a:defRPr sz="2000" b="1">
                <a:solidFill>
                  <a:srgbClr val="F5F8FF"/>
                </a:solidFill>
                <a:latin typeface="Aptos"/>
              </a:defRPr>
            </a:pPr>
            <a:r>
              <a:t>This HR Analytics Dashboard brings together workforce size, pay indicators, satisfaction, job roles, departments and tenure.</a:t>
            </a:r>
          </a:p>
        </p:txBody>
      </p:sp>
      <p:sp>
        <p:nvSpPr>
          <p:cNvPr id="7" name="Rounded Rectangle 6"/>
          <p:cNvSpPr/>
          <p:nvPr/>
        </p:nvSpPr>
        <p:spPr>
          <a:xfrm>
            <a:off x="7315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73152" cy="13716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907792"/>
            <a:ext cx="299923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WHAT WE CAN SEE</a:t>
            </a:r>
          </a:p>
        </p:txBody>
      </p:sp>
      <p:sp>
        <p:nvSpPr>
          <p:cNvPr id="10" name="TextBox 9"/>
          <p:cNvSpPr txBox="1"/>
          <p:nvPr/>
        </p:nvSpPr>
        <p:spPr>
          <a:xfrm>
            <a:off x="9326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A snapshot of the workforce and how key measures vary across groups.</a:t>
            </a:r>
          </a:p>
        </p:txBody>
      </p:sp>
      <p:sp>
        <p:nvSpPr>
          <p:cNvPr id="11" name="Rounded Rectangle 10"/>
          <p:cNvSpPr/>
          <p:nvPr/>
        </p:nvSpPr>
        <p:spPr>
          <a:xfrm>
            <a:off x="43891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743200"/>
            <a:ext cx="73152" cy="13716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907792"/>
            <a:ext cx="299923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WHAT WE SHOULD CHECK</a:t>
            </a:r>
          </a:p>
        </p:txBody>
      </p:sp>
      <p:sp>
        <p:nvSpPr>
          <p:cNvPr id="14" name="TextBox 13"/>
          <p:cNvSpPr txBox="1"/>
          <p:nvPr/>
        </p:nvSpPr>
        <p:spPr>
          <a:xfrm>
            <a:off x="45902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Whether totals, averages and units are configured correctly for each visual.</a:t>
            </a:r>
          </a:p>
        </p:txBody>
      </p:sp>
      <p:sp>
        <p:nvSpPr>
          <p:cNvPr id="15" name="Rounded Rectangle 14"/>
          <p:cNvSpPr/>
          <p:nvPr/>
        </p:nvSpPr>
        <p:spPr>
          <a:xfrm>
            <a:off x="80467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743200"/>
            <a:ext cx="73152" cy="137160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907792"/>
            <a:ext cx="299923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WHAT HR CAN DO NEXT</a:t>
            </a:r>
          </a:p>
        </p:txBody>
      </p:sp>
      <p:sp>
        <p:nvSpPr>
          <p:cNvPr id="18" name="TextBox 17"/>
          <p:cNvSpPr txBox="1"/>
          <p:nvPr/>
        </p:nvSpPr>
        <p:spPr>
          <a:xfrm>
            <a:off x="82478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Use the findings to guide deeper analysis, employee feedback and planning.</a:t>
            </a:r>
          </a:p>
        </p:txBody>
      </p:sp>
      <p:sp>
        <p:nvSpPr>
          <p:cNvPr id="19" name="Rounded Rectangle 18"/>
          <p:cNvSpPr/>
          <p:nvPr/>
        </p:nvSpPr>
        <p:spPr>
          <a:xfrm>
            <a:off x="731520" y="4709160"/>
            <a:ext cx="10698480" cy="822960"/>
          </a:xfrm>
          <a:prstGeom prst="round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19472"/>
            <a:ext cx="10241280" cy="365760"/>
          </a:xfrm>
          <a:prstGeom prst="rect">
            <a:avLst/>
          </a:prstGeom>
          <a:noFill/>
        </p:spPr>
        <p:txBody>
          <a:bodyPr wrap="square" lIns="45720" rIns="45720" anchor="t">
            <a:spAutoFit/>
          </a:bodyPr>
          <a:lstStyle/>
          <a:p>
            <a:pPr algn="ctr">
              <a:spcAft>
                <a:spcPts val="700"/>
              </a:spcAft>
              <a:defRPr sz="2000" b="1">
                <a:solidFill>
                  <a:srgbClr val="0C1223"/>
                </a:solidFill>
                <a:latin typeface="Aptos"/>
              </a:defRPr>
            </a:pPr>
            <a:r>
              <a:t>Thank you  •  Questions &amp; Discussion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BONUS / PRESENTER NOTES</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A simple 45-second opening + closing</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Use this as a speaking guide; the slides above contain the chart-by-chart explanation.</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12</a:t>
            </a:r>
          </a:p>
        </p:txBody>
      </p:sp>
      <p:sp>
        <p:nvSpPr>
          <p:cNvPr id="6" name="Rounded Rectangle 5"/>
          <p:cNvSpPr/>
          <p:nvPr/>
        </p:nvSpPr>
        <p:spPr>
          <a:xfrm>
            <a:off x="640080" y="1645920"/>
            <a:ext cx="5303520" cy="32004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32004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OPENING SCRIPT</a:t>
            </a:r>
          </a:p>
        </p:txBody>
      </p:sp>
      <p:sp>
        <p:nvSpPr>
          <p:cNvPr id="9" name="TextBox 8"/>
          <p:cNvSpPr txBox="1"/>
          <p:nvPr/>
        </p:nvSpPr>
        <p:spPr>
          <a:xfrm>
            <a:off x="841247" y="2212848"/>
            <a:ext cx="4919472" cy="25146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“Good morning everyone. My project is an HR Analytics Dashboard created in Power BI. It converts employee data into visual insights about workforce size, income, satisfaction, job roles, departments and tenure. I will explain what each KPI and chart shows, why it is useful, and how HR can use it to ask better business questions.”</a:t>
            </a:r>
          </a:p>
        </p:txBody>
      </p:sp>
      <p:sp>
        <p:nvSpPr>
          <p:cNvPr id="10" name="Rounded Rectangle 9"/>
          <p:cNvSpPr/>
          <p:nvPr/>
        </p:nvSpPr>
        <p:spPr>
          <a:xfrm>
            <a:off x="6172200" y="1645920"/>
            <a:ext cx="5303520" cy="32004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45920"/>
            <a:ext cx="73152" cy="32004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1051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CLOSING SCRIPT</a:t>
            </a:r>
          </a:p>
        </p:txBody>
      </p:sp>
      <p:sp>
        <p:nvSpPr>
          <p:cNvPr id="13" name="TextBox 12"/>
          <p:cNvSpPr txBox="1"/>
          <p:nvPr/>
        </p:nvSpPr>
        <p:spPr>
          <a:xfrm>
            <a:off x="6373368" y="2212848"/>
            <a:ext cx="4919472" cy="25146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“To conclude, the dashboard makes HR data easier to understand and compare. The KPI cards give a quick summary, while the charts help us explore patterns across groups. These visuals are useful for planning and further investigation, but we should check the data and aggregation before making final decisions. Thank you.”</a:t>
            </a:r>
          </a:p>
        </p:txBody>
      </p:sp>
      <p:sp>
        <p:nvSpPr>
          <p:cNvPr id="14" name="TextBox 13"/>
          <p:cNvSpPr txBox="1"/>
          <p:nvPr/>
        </p:nvSpPr>
        <p:spPr>
          <a:xfrm>
            <a:off x="777240" y="5394960"/>
            <a:ext cx="10607040" cy="502920"/>
          </a:xfrm>
          <a:prstGeom prst="rect">
            <a:avLst/>
          </a:prstGeom>
          <a:noFill/>
        </p:spPr>
        <p:txBody>
          <a:bodyPr wrap="square" lIns="45720" rIns="45720" anchor="t">
            <a:spAutoFit/>
          </a:bodyPr>
          <a:lstStyle/>
          <a:p>
            <a:pPr>
              <a:spcAft>
                <a:spcPts val="700"/>
              </a:spcAft>
              <a:defRPr sz="1300" b="1">
                <a:solidFill>
                  <a:srgbClr val="FFCA6B"/>
                </a:solidFill>
                <a:latin typeface="Aptos"/>
              </a:defRPr>
            </a:pPr>
            <a:r>
              <a:t>Tip: explain each visual in this order — what it shows → why it is used → what benefit it gives → what to be careful about.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